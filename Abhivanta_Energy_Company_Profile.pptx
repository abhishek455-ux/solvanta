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10728655" cy="4846320"/>
          </a:xfrm>
          <a:prstGeom prst="roundRect">
            <a:avLst/>
          </a:prstGeom>
          <a:solidFill>
            <a:srgbClr val="0D1F3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280160" y="1463040"/>
            <a:ext cx="4745409" cy="1005840"/>
          </a:xfrm>
          <a:prstGeom prst="rect">
            <a:avLst/>
          </a:prstGeom>
        </p:spPr>
      </p:pic>
      <p:sp>
        <p:nvSpPr>
          <p:cNvPr id="5" name="TextBox 4"/>
          <p:cNvSpPr txBox="1"/>
          <p:nvPr/>
        </p:nvSpPr>
        <p:spPr>
          <a:xfrm>
            <a:off x="1280160" y="2651760"/>
            <a:ext cx="7315200" cy="365760"/>
          </a:xfrm>
          <a:prstGeom prst="rect">
            <a:avLst/>
          </a:prstGeom>
          <a:noFill/>
        </p:spPr>
        <p:txBody>
          <a:bodyPr wrap="none">
            <a:spAutoFit/>
          </a:bodyPr>
          <a:lstStyle/>
          <a:p>
            <a:pPr>
              <a:defRPr sz="1100" b="1">
                <a:solidFill>
                  <a:srgbClr val="10B981"/>
                </a:solidFill>
              </a:defRPr>
            </a:pPr>
            <a:r>
              <a:t>EXECUTIVE CORPORATE PROFILE &amp;bull; 2026 EDITION</a:t>
            </a:r>
          </a:p>
        </p:txBody>
      </p:sp>
      <p:sp>
        <p:nvSpPr>
          <p:cNvPr id="6" name="TextBox 5"/>
          <p:cNvSpPr txBox="1"/>
          <p:nvPr/>
        </p:nvSpPr>
        <p:spPr>
          <a:xfrm>
            <a:off x="1280160" y="3017520"/>
            <a:ext cx="9144000" cy="1371600"/>
          </a:xfrm>
          <a:prstGeom prst="rect">
            <a:avLst/>
          </a:prstGeom>
          <a:noFill/>
        </p:spPr>
        <p:txBody>
          <a:bodyPr wrap="square">
            <a:spAutoFit/>
          </a:bodyPr>
          <a:lstStyle/>
          <a:p>
            <a:pPr>
              <a:defRPr sz="3200" b="1">
                <a:solidFill>
                  <a:srgbClr val="FFFFFF"/>
                </a:solidFill>
              </a:defRPr>
            </a:pPr>
            <a:r>
              <a:t>Powering Decisions. Accelerating Clean Energy.</a:t>
            </a:r>
          </a:p>
          <a:p>
            <a:pPr>
              <a:defRPr sz="1400">
                <a:solidFill>
                  <a:srgbClr val="CBD5E1"/>
                </a:solidFill>
              </a:defRPr>
            </a:pPr>
            <a:r>
              <a:t>Renewable Asset Management, Nationwide Power Trading, C&amp;I Open Access, Turnkey EPC, and 24/7 ENOC SCADA Telemetry for 1,180+ MW of Clean Energy Assets.</a:t>
            </a:r>
          </a:p>
        </p:txBody>
      </p:sp>
      <p:sp>
        <p:nvSpPr>
          <p:cNvPr id="7" name="TextBox 6"/>
          <p:cNvSpPr txBox="1"/>
          <p:nvPr/>
        </p:nvSpPr>
        <p:spPr>
          <a:xfrm>
            <a:off x="1280160" y="4846320"/>
            <a:ext cx="9144000" cy="731520"/>
          </a:xfrm>
          <a:prstGeom prst="rect">
            <a:avLst/>
          </a:prstGeom>
          <a:noFill/>
        </p:spPr>
        <p:txBody>
          <a:bodyPr wrap="none">
            <a:spAutoFit/>
          </a:bodyPr>
          <a:lstStyle/>
          <a:p>
            <a:pPr>
              <a:defRPr sz="1100" b="1">
                <a:solidFill>
                  <a:srgbClr val="00D2FF"/>
                </a:solidFill>
              </a:defRPr>
            </a:pPr>
            <a:r>
              <a:t>ABHIVANTA ENERGY INTELLIGENCE | Founder &amp; MD: Abhishek Singh | HQ: Pune, Maharashtra, India</a:t>
            </a:r>
          </a:p>
          <a:p>
            <a:pPr>
              <a:defRPr sz="1000">
                <a:solidFill>
                  <a:srgbClr val="94A3B8"/>
                </a:solidFill>
              </a:defRPr>
            </a:pPr>
            <a:r>
              <a:t>Operating Scale: 1,180 MW Managed Fleet &amp;bull; 99.2% Target Availability &amp;bull; Compliance: IEC 61724-1, IEC 61850, NFPA 855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01 / CORPORATE SNAPSHOT</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Executive Summary: Integrated Clean Energy &amp; Trading</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2 of 12</a:t>
            </a:r>
          </a:p>
        </p:txBody>
      </p:sp>
      <p:sp>
        <p:nvSpPr>
          <p:cNvPr id="7" name="Rounded Rectangle 6"/>
          <p:cNvSpPr/>
          <p:nvPr/>
        </p:nvSpPr>
        <p:spPr>
          <a:xfrm>
            <a:off x="731520" y="1463040"/>
            <a:ext cx="10728655" cy="1371600"/>
          </a:xfrm>
          <a:prstGeom prst="roundRect">
            <a:avLst/>
          </a:prstGeom>
          <a:solidFill>
            <a:srgbClr val="0D1F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defRPr>
            </a:pPr>
            <a:r>
              <a:t>OUR INTEGRATED VALUE PROPOSITION</a:t>
            </a:r>
          </a:p>
          <a:p>
            <a:pPr>
              <a:defRPr sz="1300">
                <a:solidFill>
                  <a:srgbClr val="CBD5E1"/>
                </a:solidFill>
              </a:defRPr>
            </a:pPr>
            <a:r>
              <a:t>ABHIVANTA combines end-to-end technical asset management, nationwide power trading, and C&amp;I open access with high-voltage turnkey EPC and industrial SCADA telemetry, maximizing financial IRR and operational generation for independent power producers across India.</a:t>
            </a:r>
          </a:p>
        </p:txBody>
      </p:sp>
      <p:sp>
        <p:nvSpPr>
          <p:cNvPr id="8" name="Rounded Rectangle 7"/>
          <p:cNvSpPr/>
          <p:nvPr/>
        </p:nvSpPr>
        <p:spPr>
          <a:xfrm>
            <a:off x="731520" y="3108960"/>
            <a:ext cx="2499055" cy="292608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D2FF"/>
                </a:solidFill>
              </a:defRPr>
            </a:pPr>
            <a:r>
              <a:t>1,180 MW</a:t>
            </a:r>
          </a:p>
          <a:p>
            <a:pPr>
              <a:defRPr sz="1300" b="1">
                <a:solidFill>
                  <a:srgbClr val="FFFFFF"/>
                </a:solidFill>
              </a:defRPr>
            </a:pPr>
            <a:r>
              <a:t>Operating Assets</a:t>
            </a:r>
          </a:p>
          <a:p>
            <a:pPr>
              <a:defRPr sz="1100">
                <a:solidFill>
                  <a:srgbClr val="94A3B8"/>
                </a:solidFill>
              </a:defRPr>
            </a:pPr>
            <a:r>
              <a:t>Solar, Wind &amp; BESS managed across India</a:t>
            </a:r>
          </a:p>
        </p:txBody>
      </p:sp>
      <p:sp>
        <p:nvSpPr>
          <p:cNvPr id="9" name="Rounded Rectangle 8"/>
          <p:cNvSpPr/>
          <p:nvPr/>
        </p:nvSpPr>
        <p:spPr>
          <a:xfrm>
            <a:off x="3474720" y="3108960"/>
            <a:ext cx="2499055" cy="292608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defRPr>
            </a:pPr>
            <a:r>
              <a:t>~38%</a:t>
            </a:r>
          </a:p>
          <a:p>
            <a:pPr>
              <a:defRPr sz="1300" b="1">
                <a:solidFill>
                  <a:srgbClr val="FFFFFF"/>
                </a:solidFill>
              </a:defRPr>
            </a:pPr>
            <a:r>
              <a:t>Tariff Reduction</a:t>
            </a:r>
          </a:p>
          <a:p>
            <a:pPr>
              <a:defRPr sz="1100">
                <a:solidFill>
                  <a:srgbClr val="94A3B8"/>
                </a:solidFill>
              </a:defRPr>
            </a:pPr>
            <a:r>
              <a:t>C&amp;I Open Access savings vs state DISCOMs</a:t>
            </a:r>
          </a:p>
        </p:txBody>
      </p:sp>
      <p:sp>
        <p:nvSpPr>
          <p:cNvPr id="10" name="Rounded Rectangle 9"/>
          <p:cNvSpPr/>
          <p:nvPr/>
        </p:nvSpPr>
        <p:spPr>
          <a:xfrm>
            <a:off x="6217920" y="3108960"/>
            <a:ext cx="2499055" cy="292608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0D2FF"/>
                </a:solidFill>
              </a:defRPr>
            </a:pPr>
            <a:r>
              <a:t>325 MWh</a:t>
            </a:r>
          </a:p>
          <a:p>
            <a:pPr>
              <a:defRPr sz="1300" b="1">
                <a:solidFill>
                  <a:srgbClr val="FFFFFF"/>
                </a:solidFill>
              </a:defRPr>
            </a:pPr>
            <a:r>
              <a:t>Grid BESS Storage</a:t>
            </a:r>
          </a:p>
          <a:p>
            <a:pPr>
              <a:defRPr sz="1100">
                <a:solidFill>
                  <a:srgbClr val="94A3B8"/>
                </a:solidFill>
              </a:defRPr>
            </a:pPr>
            <a:r>
              <a:t>4-hour peak price arbitrage &amp; synthetic inertia</a:t>
            </a:r>
          </a:p>
        </p:txBody>
      </p:sp>
      <p:sp>
        <p:nvSpPr>
          <p:cNvPr id="11" name="Rounded Rectangle 10"/>
          <p:cNvSpPr/>
          <p:nvPr/>
        </p:nvSpPr>
        <p:spPr>
          <a:xfrm>
            <a:off x="8961120" y="3108960"/>
            <a:ext cx="2499055" cy="292608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defRPr>
            </a:pPr>
            <a:r>
              <a:t>99.2%</a:t>
            </a:r>
          </a:p>
          <a:p>
            <a:pPr>
              <a:defRPr sz="1300" b="1">
                <a:solidFill>
                  <a:srgbClr val="FFFFFF"/>
                </a:solidFill>
              </a:defRPr>
            </a:pPr>
            <a:r>
              <a:t>Target Availability</a:t>
            </a:r>
          </a:p>
          <a:p>
            <a:pPr>
              <a:defRPr sz="1100">
                <a:solidFill>
                  <a:srgbClr val="94A3B8"/>
                </a:solidFill>
              </a:defRPr>
            </a:pPr>
            <a:r>
              <a:t>Guaranteed by 24/7 Pune ENOC SCADA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02 / PROBLEM &amp; OPPORTUNITY</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Solving High Tariffs &amp; Operational Leakages</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3 of 12</a:t>
            </a:r>
          </a:p>
        </p:txBody>
      </p:sp>
      <p:sp>
        <p:nvSpPr>
          <p:cNvPr id="7" name="Rounded Rectangle 6"/>
          <p:cNvSpPr/>
          <p:nvPr/>
        </p:nvSpPr>
        <p:spPr>
          <a:xfrm>
            <a:off x="731520" y="1463040"/>
            <a:ext cx="5272430"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01. High Industrial DISCOM Tariffs</a:t>
            </a:r>
          </a:p>
          <a:p>
            <a:pPr>
              <a:defRPr sz="1100">
                <a:solidFill>
                  <a:srgbClr val="CBD5E1"/>
                </a:solidFill>
              </a:defRPr>
            </a:pPr>
            <a:r>
              <a:t>Challenge: Manufacturing &amp; C&amp;I clients pay steep grid tariffs (₹8.50–₹10.50/kWh) with high cross-subsidy surcharges.</a:t>
            </a:r>
          </a:p>
          <a:p>
            <a:pPr>
              <a:defRPr sz="1100" b="1">
                <a:solidFill>
                  <a:srgbClr val="10B981"/>
                </a:solidFill>
              </a:defRPr>
            </a:pPr>
            <a:r>
              <a:t>Abhivanta Solution: Green Group-Captive &amp; Bilateral Open Access cutting power costs to ₹4.80–₹5.20/kWh (~38% net savings).</a:t>
            </a:r>
          </a:p>
        </p:txBody>
      </p:sp>
      <p:sp>
        <p:nvSpPr>
          <p:cNvPr id="8" name="Rounded Rectangle 7"/>
          <p:cNvSpPr/>
          <p:nvPr/>
        </p:nvSpPr>
        <p:spPr>
          <a:xfrm>
            <a:off x="6186830" y="1463040"/>
            <a:ext cx="5272430"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D2FF"/>
                </a:solidFill>
              </a:defRPr>
            </a:pPr>
            <a:r>
              <a:t>02. Curtailment &amp; Power Spillage</a:t>
            </a:r>
          </a:p>
          <a:p>
            <a:pPr>
              <a:defRPr sz="1100">
                <a:solidFill>
                  <a:srgbClr val="CBD5E1"/>
                </a:solidFill>
              </a:defRPr>
            </a:pPr>
            <a:r>
              <a:t>Challenge: Midday solar peaks collide with SLDC backdowns, wasting clean generation and merchant revenue.</a:t>
            </a:r>
          </a:p>
          <a:p>
            <a:pPr>
              <a:defRPr sz="1100" b="1">
                <a:solidFill>
                  <a:srgbClr val="10B981"/>
                </a:solidFill>
              </a:defRPr>
            </a:pPr>
            <a:r>
              <a:t>Abhivanta Solution: Dynamic Power Trading on IEX (DAM/RTM/GDAM) and 325 MWh BESS absorbing midday surplus for peak export.</a:t>
            </a:r>
          </a:p>
        </p:txBody>
      </p:sp>
      <p:sp>
        <p:nvSpPr>
          <p:cNvPr id="9" name="Rounded Rectangle 8"/>
          <p:cNvSpPr/>
          <p:nvPr/>
        </p:nvSpPr>
        <p:spPr>
          <a:xfrm>
            <a:off x="731520" y="3840480"/>
            <a:ext cx="5272430"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03. Undetected Inverter &amp; Cell Faults</a:t>
            </a:r>
          </a:p>
          <a:p>
            <a:pPr>
              <a:defRPr sz="1100">
                <a:solidFill>
                  <a:srgbClr val="CBD5E1"/>
                </a:solidFill>
              </a:defRPr>
            </a:pPr>
            <a:r>
              <a:t>Challenge: DC ground insulation leaks, fuse blows, and hot-spots go undetected, depressing plant PR by 5%–8%.</a:t>
            </a:r>
          </a:p>
          <a:p>
            <a:pPr>
              <a:defRPr sz="1100" b="1">
                <a:solidFill>
                  <a:srgbClr val="10B981"/>
                </a:solidFill>
              </a:defRPr>
            </a:pPr>
            <a:r>
              <a:t>Abhivanta Solution: Sub-second string telemetry, drone thermal scanning, and predictive IEC 61724 heat-loss triage.</a:t>
            </a:r>
          </a:p>
        </p:txBody>
      </p:sp>
      <p:sp>
        <p:nvSpPr>
          <p:cNvPr id="10" name="Rounded Rectangle 9"/>
          <p:cNvSpPr/>
          <p:nvPr/>
        </p:nvSpPr>
        <p:spPr>
          <a:xfrm>
            <a:off x="6186830" y="3840480"/>
            <a:ext cx="5272430"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0D2FF"/>
                </a:solidFill>
              </a:defRPr>
            </a:pPr>
            <a:r>
              <a:t>04. DSM Regulatory Penalties</a:t>
            </a:r>
          </a:p>
          <a:p>
            <a:pPr>
              <a:defRPr sz="1100">
                <a:solidFill>
                  <a:srgbClr val="CBD5E1"/>
                </a:solidFill>
              </a:defRPr>
            </a:pPr>
            <a:r>
              <a:t>Challenge: Inaccurate scheduling causes severe Deviation Settlement Mechanism (DSM) fines under CERC/SERC.</a:t>
            </a:r>
          </a:p>
          <a:p>
            <a:pPr>
              <a:defRPr sz="1100" b="1">
                <a:solidFill>
                  <a:srgbClr val="10B981"/>
                </a:solidFill>
              </a:defRPr>
            </a:pPr>
            <a:r>
              <a:t>Abhivanta Solution: 24/7 ENOC AI scheduling and automated 1-click audit-grade compliance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03 / CAPABILITY MATRIX</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Full-Spectrum Renewable &amp; Power Market Offerings</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4 of 12</a:t>
            </a:r>
          </a:p>
        </p:txBody>
      </p:sp>
      <p:sp>
        <p:nvSpPr>
          <p:cNvPr id="7" name="Rounded Rectangle 6"/>
          <p:cNvSpPr/>
          <p:nvPr/>
        </p:nvSpPr>
        <p:spPr>
          <a:xfrm>
            <a:off x="731520" y="1463040"/>
            <a:ext cx="2532888" cy="214884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01</a:t>
            </a:r>
          </a:p>
          <a:p>
            <a:pPr>
              <a:defRPr sz="1200" b="1">
                <a:solidFill>
                  <a:srgbClr val="FFFFFF"/>
                </a:solidFill>
              </a:defRPr>
            </a:pPr>
            <a:r>
              <a:t>Renewable Asset Management</a:t>
            </a:r>
          </a:p>
          <a:p>
            <a:pPr>
              <a:defRPr sz="1000">
                <a:solidFill>
                  <a:srgbClr val="CBD5E1"/>
                </a:solidFill>
              </a:defRPr>
            </a:pPr>
            <a:r>
              <a:t>Technical &amp; financial oversight, AMC/warranty oversight, CERC/SERC DSM scheduling, and ABT smart metering.</a:t>
            </a:r>
          </a:p>
        </p:txBody>
      </p:sp>
      <p:sp>
        <p:nvSpPr>
          <p:cNvPr id="8" name="Rounded Rectangle 7"/>
          <p:cNvSpPr/>
          <p:nvPr/>
        </p:nvSpPr>
        <p:spPr>
          <a:xfrm>
            <a:off x="3447288" y="1463040"/>
            <a:ext cx="2532888"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02</a:t>
            </a:r>
          </a:p>
          <a:p>
            <a:pPr>
              <a:defRPr sz="1200" b="1">
                <a:solidFill>
                  <a:srgbClr val="FFFFFF"/>
                </a:solidFill>
              </a:defRPr>
            </a:pPr>
            <a:r>
              <a:t>Power Trading &amp; Exchange Ops</a:t>
            </a:r>
          </a:p>
          <a:p>
            <a:pPr>
              <a:defRPr sz="1000">
                <a:solidFill>
                  <a:srgbClr val="CBD5E1"/>
                </a:solidFill>
              </a:defRPr>
            </a:pPr>
            <a:r>
              <a:t>Inter-state trading, bilateral PPA contracts, energy banking, and IEX market operations (DAM, RTM, GDAM).</a:t>
            </a:r>
          </a:p>
        </p:txBody>
      </p:sp>
      <p:sp>
        <p:nvSpPr>
          <p:cNvPr id="9" name="Rounded Rectangle 8"/>
          <p:cNvSpPr/>
          <p:nvPr/>
        </p:nvSpPr>
        <p:spPr>
          <a:xfrm>
            <a:off x="6163056" y="1463040"/>
            <a:ext cx="2532888" cy="214884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03</a:t>
            </a:r>
          </a:p>
          <a:p>
            <a:pPr>
              <a:defRPr sz="1200" b="1">
                <a:solidFill>
                  <a:srgbClr val="FFFFFF"/>
                </a:solidFill>
              </a:defRPr>
            </a:pPr>
            <a:r>
              <a:t>C&amp;I Green Open Access</a:t>
            </a:r>
          </a:p>
          <a:p>
            <a:pPr>
              <a:defRPr sz="1000">
                <a:solidFill>
                  <a:srgbClr val="CBD5E1"/>
                </a:solidFill>
              </a:defRPr>
            </a:pPr>
            <a:r>
              <a:t>Group-Captive and Third-Party Open Access procurement saving industrial consumers 25%–40% on power costs.</a:t>
            </a:r>
          </a:p>
        </p:txBody>
      </p:sp>
      <p:sp>
        <p:nvSpPr>
          <p:cNvPr id="10" name="Rounded Rectangle 9"/>
          <p:cNvSpPr/>
          <p:nvPr/>
        </p:nvSpPr>
        <p:spPr>
          <a:xfrm>
            <a:off x="8878824" y="1463040"/>
            <a:ext cx="2532888"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04</a:t>
            </a:r>
          </a:p>
          <a:p>
            <a:pPr>
              <a:defRPr sz="1200" b="1">
                <a:solidFill>
                  <a:srgbClr val="FFFFFF"/>
                </a:solidFill>
              </a:defRPr>
            </a:pPr>
            <a:r>
              <a:t>Turnkey Solar &amp; Wind EPC</a:t>
            </a:r>
          </a:p>
          <a:p>
            <a:pPr>
              <a:defRPr sz="1000">
                <a:solidFill>
                  <a:srgbClr val="CBD5E1"/>
                </a:solidFill>
              </a:defRPr>
            </a:pPr>
            <a:r>
              <a:t>End-to-end design, single-axis tracker layout, 33kV/220kV pooling substations, and grid tie-in with guaranteed COD.</a:t>
            </a:r>
          </a:p>
        </p:txBody>
      </p:sp>
      <p:sp>
        <p:nvSpPr>
          <p:cNvPr id="11" name="Rounded Rectangle 10"/>
          <p:cNvSpPr/>
          <p:nvPr/>
        </p:nvSpPr>
        <p:spPr>
          <a:xfrm>
            <a:off x="731520" y="3840480"/>
            <a:ext cx="2532888" cy="214884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05</a:t>
            </a:r>
          </a:p>
          <a:p>
            <a:pPr>
              <a:defRPr sz="1200" b="1">
                <a:solidFill>
                  <a:srgbClr val="FFFFFF"/>
                </a:solidFill>
              </a:defRPr>
            </a:pPr>
            <a:r>
              <a:t>325 MWh Grid-Forming BESS</a:t>
            </a:r>
          </a:p>
          <a:p>
            <a:pPr>
              <a:defRPr sz="1000">
                <a:solidFill>
                  <a:srgbClr val="CBD5E1"/>
                </a:solidFill>
              </a:defRPr>
            </a:pPr>
            <a:r>
              <a:t>Containerized liquid-cooled LFP arrays, sub-second synthetic inertia, frequency response, and peak tariff arbitrage.</a:t>
            </a:r>
          </a:p>
        </p:txBody>
      </p:sp>
      <p:sp>
        <p:nvSpPr>
          <p:cNvPr id="12" name="Rounded Rectangle 11"/>
          <p:cNvSpPr/>
          <p:nvPr/>
        </p:nvSpPr>
        <p:spPr>
          <a:xfrm>
            <a:off x="3447288" y="3840480"/>
            <a:ext cx="2532888"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06</a:t>
            </a:r>
          </a:p>
          <a:p>
            <a:pPr>
              <a:defRPr sz="1200" b="1">
                <a:solidFill>
                  <a:srgbClr val="FFFFFF"/>
                </a:solidFill>
              </a:defRPr>
            </a:pPr>
            <a:r>
              <a:t>24/7 ENOC SCADA Telemetry</a:t>
            </a:r>
          </a:p>
          <a:p>
            <a:pPr>
              <a:defRPr sz="1000">
                <a:solidFill>
                  <a:srgbClr val="CBD5E1"/>
                </a:solidFill>
              </a:defRPr>
            </a:pPr>
            <a:r>
              <a:t>IEC 61850 substation Ethernet &amp; Modbus TCP gateways connecting edge RTUs with sub-second polling from Pune ENOC.</a:t>
            </a:r>
          </a:p>
        </p:txBody>
      </p:sp>
      <p:sp>
        <p:nvSpPr>
          <p:cNvPr id="13" name="Rounded Rectangle 12"/>
          <p:cNvSpPr/>
          <p:nvPr/>
        </p:nvSpPr>
        <p:spPr>
          <a:xfrm>
            <a:off x="6163056" y="3840480"/>
            <a:ext cx="2532888" cy="214884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07</a:t>
            </a:r>
          </a:p>
          <a:p>
            <a:pPr>
              <a:defRPr sz="1200" b="1">
                <a:solidFill>
                  <a:srgbClr val="FFFFFF"/>
                </a:solidFill>
              </a:defRPr>
            </a:pPr>
            <a:r>
              <a:t>Preventive O&amp;M &amp; Robotic Wash</a:t>
            </a:r>
          </a:p>
          <a:p>
            <a:pPr>
              <a:defRPr sz="1000">
                <a:solidFill>
                  <a:srgbClr val="CBD5E1"/>
                </a:solidFill>
              </a:defRPr>
            </a:pPr>
            <a:r>
              <a:t>100% waterless dry robotic cleaning fleets, drone IR thermography, and guaranteed 99.2% plant availability.</a:t>
            </a:r>
          </a:p>
        </p:txBody>
      </p:sp>
      <p:sp>
        <p:nvSpPr>
          <p:cNvPr id="14" name="Rounded Rectangle 13"/>
          <p:cNvSpPr/>
          <p:nvPr/>
        </p:nvSpPr>
        <p:spPr>
          <a:xfrm>
            <a:off x="8878824" y="3840480"/>
            <a:ext cx="2532888" cy="214884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VERTICAL 08</a:t>
            </a:r>
          </a:p>
          <a:p>
            <a:pPr>
              <a:defRPr sz="1200" b="1">
                <a:solidFill>
                  <a:srgbClr val="FFFFFF"/>
                </a:solidFill>
              </a:defRPr>
            </a:pPr>
            <a:r>
              <a:t>Agro-PV &amp; Transaction Advisory</a:t>
            </a:r>
          </a:p>
          <a:p>
            <a:pPr>
              <a:defRPr sz="1000">
                <a:solidFill>
                  <a:srgbClr val="CBD5E1"/>
                </a:solidFill>
              </a:defRPr>
            </a:pPr>
            <a:r>
              <a:t>Dual-use agricultural solar engineering, Technical Due Diligence (TDD), Lender's Engineer audits, and carbon trading.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04 / ASSET DEPLOYMENTS (PART 1)</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Utility Portfolio: Solar &amp; Wind Infrastructure</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5 of 12</a:t>
            </a:r>
          </a:p>
        </p:txBody>
      </p:sp>
      <p:sp>
        <p:nvSpPr>
          <p:cNvPr id="7" name="Rounded Rectangle 6"/>
          <p:cNvSpPr/>
          <p:nvPr/>
        </p:nvSpPr>
        <p:spPr>
          <a:xfrm>
            <a:off x="731520" y="1463040"/>
            <a:ext cx="5272430"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bhivanta_solar_park_aerial.jpg"/>
          <p:cNvPicPr>
            <a:picLocks noChangeAspect="1"/>
          </p:cNvPicPr>
          <p:nvPr/>
        </p:nvPicPr>
        <p:blipFill>
          <a:blip r:embed="rId3"/>
          <a:stretch>
            <a:fillRect/>
          </a:stretch>
        </p:blipFill>
        <p:spPr>
          <a:xfrm>
            <a:off x="914400" y="1645920"/>
            <a:ext cx="4906670" cy="2194560"/>
          </a:xfrm>
          <a:prstGeom prst="rect">
            <a:avLst/>
          </a:prstGeom>
        </p:spPr>
      </p:pic>
      <p:sp>
        <p:nvSpPr>
          <p:cNvPr id="9" name="TextBox 8"/>
          <p:cNvSpPr txBox="1"/>
          <p:nvPr/>
        </p:nvSpPr>
        <p:spPr>
          <a:xfrm>
            <a:off x="914400" y="3931920"/>
            <a:ext cx="4906670" cy="2011680"/>
          </a:xfrm>
          <a:prstGeom prst="rect">
            <a:avLst/>
          </a:prstGeom>
          <a:noFill/>
        </p:spPr>
        <p:txBody>
          <a:bodyPr wrap="square">
            <a:spAutoFit/>
          </a:bodyPr>
          <a:lstStyle/>
          <a:p>
            <a:pPr>
              <a:defRPr sz="1500" b="1">
                <a:solidFill>
                  <a:srgbClr val="FFFFFF"/>
                </a:solidFill>
              </a:defRPr>
            </a:pPr>
            <a:r>
              <a:t>Thar Ultra-Mega Solar Park (660 MW)</a:t>
            </a:r>
          </a:p>
          <a:p>
            <a:pPr>
              <a:defRPr sz="1100">
                <a:solidFill>
                  <a:srgbClr val="10B981"/>
                </a:solidFill>
              </a:defRPr>
            </a:pPr>
            <a:r>
              <a:t>Location: Bhadla, Rajasthan | Operating PR: 83.1% | Daily: 3,420 MWh</a:t>
            </a:r>
          </a:p>
          <a:p>
            <a:pPr>
              <a:defRPr sz="1100">
                <a:solidFill>
                  <a:srgbClr val="CBD5E1"/>
                </a:solidFill>
              </a:defRPr>
            </a:pPr>
            <a:r>
              <a:t>Bifacial monocrystalline TOPCon modules on single-axis trackers with autonomous dry robotic cleaning fleets saving 42M liters of water annually.</a:t>
            </a:r>
          </a:p>
        </p:txBody>
      </p:sp>
      <p:sp>
        <p:nvSpPr>
          <p:cNvPr id="10" name="Rounded Rectangle 9"/>
          <p:cNvSpPr/>
          <p:nvPr/>
        </p:nvSpPr>
        <p:spPr>
          <a:xfrm>
            <a:off x="6186830" y="1463040"/>
            <a:ext cx="5272430"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bhivanta_cloud_ridge_turbines.jpg"/>
          <p:cNvPicPr>
            <a:picLocks noChangeAspect="1"/>
          </p:cNvPicPr>
          <p:nvPr/>
        </p:nvPicPr>
        <p:blipFill>
          <a:blip r:embed="rId4"/>
          <a:stretch>
            <a:fillRect/>
          </a:stretch>
        </p:blipFill>
        <p:spPr>
          <a:xfrm>
            <a:off x="6369710" y="1645920"/>
            <a:ext cx="4906670" cy="2194560"/>
          </a:xfrm>
          <a:prstGeom prst="rect">
            <a:avLst/>
          </a:prstGeom>
        </p:spPr>
      </p:pic>
      <p:sp>
        <p:nvSpPr>
          <p:cNvPr id="12" name="TextBox 11"/>
          <p:cNvSpPr txBox="1"/>
          <p:nvPr/>
        </p:nvSpPr>
        <p:spPr>
          <a:xfrm>
            <a:off x="6369710" y="3931920"/>
            <a:ext cx="4906670" cy="2011680"/>
          </a:xfrm>
          <a:prstGeom prst="rect">
            <a:avLst/>
          </a:prstGeom>
          <a:noFill/>
        </p:spPr>
        <p:txBody>
          <a:bodyPr wrap="square">
            <a:spAutoFit/>
          </a:bodyPr>
          <a:lstStyle/>
          <a:p>
            <a:pPr>
              <a:defRPr sz="1500" b="1">
                <a:solidFill>
                  <a:srgbClr val="FFFFFF"/>
                </a:solidFill>
              </a:defRPr>
            </a:pPr>
            <a:r>
              <a:t>Muppandal Pass Wind Corridor (195 MW)</a:t>
            </a:r>
          </a:p>
          <a:p>
            <a:pPr>
              <a:defRPr sz="1100">
                <a:solidFill>
                  <a:srgbClr val="00D2FF"/>
                </a:solidFill>
              </a:defRPr>
            </a:pPr>
            <a:r>
              <a:t>Location: Tamil Nadu High Pass | Fleet CUF: 37.4% | Grid Uptime: 99.1%</a:t>
            </a:r>
          </a:p>
          <a:p>
            <a:pPr>
              <a:defRPr sz="1100">
                <a:solidFill>
                  <a:srgbClr val="CBD5E1"/>
                </a:solidFill>
              </a:defRPr>
            </a:pPr>
            <a:r>
              <a:t>120m hub-height direct-drive turbines capturing seasonal high velocities, integrated with active pitch harmonics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05 / ASSET DEPLOYMENTS (PART 2)</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Hybrid Storage, Agro-PV &amp; Mountain Slope Assets</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6 of 12</a:t>
            </a:r>
          </a:p>
        </p:txBody>
      </p:sp>
      <p:sp>
        <p:nvSpPr>
          <p:cNvPr id="7" name="Rounded Rectangle 6"/>
          <p:cNvSpPr/>
          <p:nvPr/>
        </p:nvSpPr>
        <p:spPr>
          <a:xfrm>
            <a:off x="731520" y="1463040"/>
            <a:ext cx="3447288"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bhivanta_hybrid_sunset_farm.jpg"/>
          <p:cNvPicPr>
            <a:picLocks noChangeAspect="1"/>
          </p:cNvPicPr>
          <p:nvPr/>
        </p:nvPicPr>
        <p:blipFill>
          <a:blip r:embed="rId3"/>
          <a:stretch>
            <a:fillRect/>
          </a:stretch>
        </p:blipFill>
        <p:spPr>
          <a:xfrm>
            <a:off x="914400" y="1645920"/>
            <a:ext cx="3081528" cy="1920240"/>
          </a:xfrm>
          <a:prstGeom prst="rect">
            <a:avLst/>
          </a:prstGeom>
        </p:spPr>
      </p:pic>
      <p:sp>
        <p:nvSpPr>
          <p:cNvPr id="9" name="TextBox 8"/>
          <p:cNvSpPr txBox="1"/>
          <p:nvPr/>
        </p:nvSpPr>
        <p:spPr>
          <a:xfrm>
            <a:off x="914400" y="3657600"/>
            <a:ext cx="3081528" cy="2286000"/>
          </a:xfrm>
          <a:prstGeom prst="rect">
            <a:avLst/>
          </a:prstGeom>
          <a:noFill/>
        </p:spPr>
        <p:txBody>
          <a:bodyPr wrap="square">
            <a:spAutoFit/>
          </a:bodyPr>
          <a:lstStyle/>
          <a:p>
            <a:pPr>
              <a:defRPr sz="1300" b="1">
                <a:solidFill>
                  <a:srgbClr val="FFFFFF"/>
                </a:solidFill>
              </a:defRPr>
            </a:pPr>
            <a:r>
              <a:t>Khavda 325 MWh BESS Storage</a:t>
            </a:r>
          </a:p>
          <a:p>
            <a:pPr>
              <a:defRPr sz="1000">
                <a:solidFill>
                  <a:srgbClr val="10B981"/>
                </a:solidFill>
              </a:defRPr>
            </a:pPr>
            <a:r>
              <a:t>Kutch, Gujarat &amp;bull; 92.5% Round-Trip Efficiency</a:t>
            </a:r>
          </a:p>
          <a:p>
            <a:pPr>
              <a:defRPr sz="1100">
                <a:solidFill>
                  <a:srgbClr val="CBD5E1"/>
                </a:solidFill>
              </a:defRPr>
            </a:pPr>
            <a:r>
              <a:t>Liquid-cooled containerized LFP storage providing 4-hr peak shaving &amp; IEX arbitrage.</a:t>
            </a:r>
          </a:p>
        </p:txBody>
      </p:sp>
      <p:sp>
        <p:nvSpPr>
          <p:cNvPr id="10" name="Rounded Rectangle 9"/>
          <p:cNvSpPr/>
          <p:nvPr/>
        </p:nvSpPr>
        <p:spPr>
          <a:xfrm>
            <a:off x="4361688" y="1463040"/>
            <a:ext cx="3447288"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bhivanta_agro_solar_wetlands.jpg"/>
          <p:cNvPicPr>
            <a:picLocks noChangeAspect="1"/>
          </p:cNvPicPr>
          <p:nvPr/>
        </p:nvPicPr>
        <p:blipFill>
          <a:blip r:embed="rId4"/>
          <a:stretch>
            <a:fillRect/>
          </a:stretch>
        </p:blipFill>
        <p:spPr>
          <a:xfrm>
            <a:off x="4544568" y="1645920"/>
            <a:ext cx="3081528" cy="1920240"/>
          </a:xfrm>
          <a:prstGeom prst="rect">
            <a:avLst/>
          </a:prstGeom>
        </p:spPr>
      </p:pic>
      <p:sp>
        <p:nvSpPr>
          <p:cNvPr id="12" name="TextBox 11"/>
          <p:cNvSpPr txBox="1"/>
          <p:nvPr/>
        </p:nvSpPr>
        <p:spPr>
          <a:xfrm>
            <a:off x="4544568" y="3657600"/>
            <a:ext cx="3081528" cy="2286000"/>
          </a:xfrm>
          <a:prstGeom prst="rect">
            <a:avLst/>
          </a:prstGeom>
          <a:noFill/>
        </p:spPr>
        <p:txBody>
          <a:bodyPr wrap="square">
            <a:spAutoFit/>
          </a:bodyPr>
          <a:lstStyle/>
          <a:p>
            <a:pPr>
              <a:defRPr sz="1300" b="1">
                <a:solidFill>
                  <a:srgbClr val="FFFFFF"/>
                </a:solidFill>
              </a:defRPr>
            </a:pPr>
            <a:r>
              <a:t>Deccan Agro-PV Ecological Basin</a:t>
            </a:r>
          </a:p>
          <a:p>
            <a:pPr>
              <a:defRPr sz="1000">
                <a:solidFill>
                  <a:srgbClr val="10B981"/>
                </a:solidFill>
              </a:defRPr>
            </a:pPr>
            <a:r>
              <a:t>Satara, Maharashtra &amp;bull; 280 MW &amp;bull; +14% Crop Yield</a:t>
            </a:r>
          </a:p>
          <a:p>
            <a:pPr>
              <a:defRPr sz="1100">
                <a:solidFill>
                  <a:srgbClr val="CBD5E1"/>
                </a:solidFill>
              </a:defRPr>
            </a:pPr>
            <a:r>
              <a:t>Elevated tracker superstructures combining clean power with sustainable agriculture.</a:t>
            </a:r>
          </a:p>
        </p:txBody>
      </p:sp>
      <p:sp>
        <p:nvSpPr>
          <p:cNvPr id="13" name="Rounded Rectangle 12"/>
          <p:cNvSpPr/>
          <p:nvPr/>
        </p:nvSpPr>
        <p:spPr>
          <a:xfrm>
            <a:off x="7991856" y="1463040"/>
            <a:ext cx="3447288"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bhivanta_mountain_slope_solar.jpg"/>
          <p:cNvPicPr>
            <a:picLocks noChangeAspect="1"/>
          </p:cNvPicPr>
          <p:nvPr/>
        </p:nvPicPr>
        <p:blipFill>
          <a:blip r:embed="rId5"/>
          <a:stretch>
            <a:fillRect/>
          </a:stretch>
        </p:blipFill>
        <p:spPr>
          <a:xfrm>
            <a:off x="8174736" y="1645920"/>
            <a:ext cx="3081528" cy="1920240"/>
          </a:xfrm>
          <a:prstGeom prst="rect">
            <a:avLst/>
          </a:prstGeom>
        </p:spPr>
      </p:pic>
      <p:sp>
        <p:nvSpPr>
          <p:cNvPr id="15" name="TextBox 14"/>
          <p:cNvSpPr txBox="1"/>
          <p:nvPr/>
        </p:nvSpPr>
        <p:spPr>
          <a:xfrm>
            <a:off x="8174736" y="3657600"/>
            <a:ext cx="3081528" cy="2286000"/>
          </a:xfrm>
          <a:prstGeom prst="rect">
            <a:avLst/>
          </a:prstGeom>
          <a:noFill/>
        </p:spPr>
        <p:txBody>
          <a:bodyPr wrap="square">
            <a:spAutoFit/>
          </a:bodyPr>
          <a:lstStyle/>
          <a:p>
            <a:pPr>
              <a:defRPr sz="1300" b="1">
                <a:solidFill>
                  <a:srgbClr val="FFFFFF"/>
                </a:solidFill>
              </a:defRPr>
            </a:pPr>
            <a:r>
              <a:t>Aravalli Mountain Slope Array</a:t>
            </a:r>
          </a:p>
          <a:p>
            <a:pPr>
              <a:defRPr sz="1000">
                <a:solidFill>
                  <a:srgbClr val="10B981"/>
                </a:solidFill>
              </a:defRPr>
            </a:pPr>
            <a:r>
              <a:t>Rajasthan Ridge &amp;bull; 150 MW &amp;bull; 99.4% String Uptime</a:t>
            </a:r>
          </a:p>
          <a:p>
            <a:pPr>
              <a:defRPr sz="1100">
                <a:solidFill>
                  <a:srgbClr val="CBD5E1"/>
                </a:solidFill>
              </a:defRPr>
            </a:pPr>
            <a:r>
              <a:t>Terrain-adaptive racking capturing high-altitude solar angles with string MPPT.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06 / ARTIFICIAL INTELLIGENCE</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Proprietary Intelligence: Abhivanta AI™ Engine</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7 of 12</a:t>
            </a:r>
          </a:p>
        </p:txBody>
      </p:sp>
      <p:sp>
        <p:nvSpPr>
          <p:cNvPr id="7" name="Rounded Rectangle 6"/>
          <p:cNvSpPr/>
          <p:nvPr/>
        </p:nvSpPr>
        <p:spPr>
          <a:xfrm>
            <a:off x="731520" y="1463040"/>
            <a:ext cx="3447288" cy="4572000"/>
          </a:xfrm>
          <a:prstGeom prst="roundRect">
            <a:avLst/>
          </a:prstGeom>
          <a:solidFill>
            <a:srgbClr val="0D1F3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D2FF"/>
                </a:solidFill>
              </a:defRPr>
            </a:pPr>
            <a:r>
              <a:t>MODULE 01</a:t>
            </a:r>
          </a:p>
          <a:p>
            <a:pPr>
              <a:defRPr sz="1500" b="1">
                <a:solidFill>
                  <a:srgbClr val="FFFFFF"/>
                </a:solidFill>
              </a:defRPr>
            </a:pPr>
            <a:r>
              <a:t>Computer Vision Optical Diagnostics</a:t>
            </a:r>
          </a:p>
          <a:p>
            <a:pPr>
              <a:defRPr sz="1100">
                <a:solidFill>
                  <a:srgbClr val="CBD5E1"/>
                </a:solidFill>
              </a:defRPr>
            </a:pPr>
            <a:r>
              <a:t>Sub-millimeter optical &amp; thermal IR neural net analyzing drone captures for cell microcracks, diode failure, and dust crust severity with 96%+ accuracy.</a:t>
            </a:r>
          </a:p>
          <a:p>
            <a:pPr>
              <a:defRPr sz="1100" b="1">
                <a:solidFill>
                  <a:srgbClr val="10B981"/>
                </a:solidFill>
              </a:defRPr>
            </a:pPr>
            <a:r>
              <a:t>Result: Pinpoint module replacement before thermal runaway; +4.2% annual generation retention.</a:t>
            </a:r>
          </a:p>
        </p:txBody>
      </p:sp>
      <p:sp>
        <p:nvSpPr>
          <p:cNvPr id="8" name="Rounded Rectangle 7"/>
          <p:cNvSpPr/>
          <p:nvPr/>
        </p:nvSpPr>
        <p:spPr>
          <a:xfrm>
            <a:off x="4361688" y="1463040"/>
            <a:ext cx="3447288" cy="4572000"/>
          </a:xfrm>
          <a:prstGeom prst="roundRect">
            <a:avLst/>
          </a:prstGeom>
          <a:solidFill>
            <a:srgbClr val="0D1F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MODULE 02</a:t>
            </a:r>
          </a:p>
          <a:p>
            <a:pPr>
              <a:defRPr sz="1500" b="1">
                <a:solidFill>
                  <a:srgbClr val="FFFFFF"/>
                </a:solidFill>
              </a:defRPr>
            </a:pPr>
            <a:r>
              <a:t>Inverter Degradation &amp; Loss Triage</a:t>
            </a:r>
          </a:p>
          <a:p>
            <a:pPr>
              <a:defRPr sz="1100">
                <a:solidFill>
                  <a:srgbClr val="CBD5E1"/>
                </a:solidFill>
              </a:defRPr>
            </a:pPr>
            <a:r>
              <a:t>Physics-informed neural networks continuous modeling IEC 61724 heat losses, IGBT switching degradation, and harmonic distortion.</a:t>
            </a:r>
          </a:p>
          <a:p>
            <a:pPr>
              <a:defRPr sz="1100" b="1">
                <a:solidFill>
                  <a:srgbClr val="10B981"/>
                </a:solidFill>
              </a:defRPr>
            </a:pPr>
            <a:r>
              <a:t>Result: 48-hour advance warning before inverter bridge failure; 0 unscheduled inverter outages.</a:t>
            </a:r>
          </a:p>
        </p:txBody>
      </p:sp>
      <p:sp>
        <p:nvSpPr>
          <p:cNvPr id="9" name="Rounded Rectangle 8"/>
          <p:cNvSpPr/>
          <p:nvPr/>
        </p:nvSpPr>
        <p:spPr>
          <a:xfrm>
            <a:off x="7991856" y="1463040"/>
            <a:ext cx="3447288" cy="4572000"/>
          </a:xfrm>
          <a:prstGeom prst="roundRect">
            <a:avLst/>
          </a:prstGeom>
          <a:solidFill>
            <a:srgbClr val="0D1F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MODULE 03</a:t>
            </a:r>
          </a:p>
          <a:p>
            <a:pPr>
              <a:defRPr sz="1500" b="1">
                <a:solidFill>
                  <a:srgbClr val="FFFFFF"/>
                </a:solidFill>
              </a:defRPr>
            </a:pPr>
            <a:r>
              <a:t>Autonomous BESS Arbitrage Algorithm</a:t>
            </a:r>
          </a:p>
          <a:p>
            <a:pPr>
              <a:defRPr sz="1100">
                <a:solidFill>
                  <a:srgbClr val="CBD5E1"/>
                </a:solidFill>
              </a:defRPr>
            </a:pPr>
            <a:r>
              <a:t>Reinforcement learning dispatch optimizer predicting Indian Energy Exchange (IEX) market clearing prices (DAM/RTM).</a:t>
            </a:r>
          </a:p>
          <a:p>
            <a:pPr>
              <a:defRPr sz="1100" b="1">
                <a:solidFill>
                  <a:srgbClr val="10B981"/>
                </a:solidFill>
              </a:defRPr>
            </a:pPr>
            <a:r>
              <a:t>Result: Daytime solar charging and evening peak dispatch yielding +14.6% merchant power revenue.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07 / TELEMETRY ARCHITECTURE</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24/7 Central ENOC SCADA Command Architecture</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8 of 12</a:t>
            </a:r>
          </a:p>
        </p:txBody>
      </p:sp>
      <p:sp>
        <p:nvSpPr>
          <p:cNvPr id="7" name="Rounded Rectangle 6"/>
          <p:cNvSpPr/>
          <p:nvPr/>
        </p:nvSpPr>
        <p:spPr>
          <a:xfrm>
            <a:off x="731520" y="1463040"/>
            <a:ext cx="2499055" cy="228600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FF"/>
                </a:solidFill>
              </a:defRPr>
            </a:pPr>
            <a:r>
              <a:t>Step 1: Edge Acquisition</a:t>
            </a:r>
          </a:p>
          <a:p>
            <a:pPr>
              <a:defRPr sz="1100">
                <a:solidFill>
                  <a:srgbClr val="CBD5E1"/>
                </a:solidFill>
              </a:defRPr>
            </a:pPr>
            <a:r>
              <a:t>Industrial edge gateways &amp; Modbus RTUs capture sub-second string voltages, tracker positions, pyranometers, and inverter telemetry.</a:t>
            </a:r>
          </a:p>
        </p:txBody>
      </p:sp>
      <p:sp>
        <p:nvSpPr>
          <p:cNvPr id="8" name="Rounded Rectangle 7"/>
          <p:cNvSpPr/>
          <p:nvPr/>
        </p:nvSpPr>
        <p:spPr>
          <a:xfrm>
            <a:off x="3474720" y="1463040"/>
            <a:ext cx="2499055" cy="228600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FF"/>
                </a:solidFill>
              </a:defRPr>
            </a:pPr>
            <a:r>
              <a:t>Step 2: Encrypted Pipeline</a:t>
            </a:r>
          </a:p>
          <a:p>
            <a:pPr>
              <a:defRPr sz="1100">
                <a:solidFill>
                  <a:srgbClr val="CBD5E1"/>
                </a:solidFill>
              </a:defRPr>
            </a:pPr>
            <a:r>
              <a:t>TLS 1.3 industrial VPN channels stream encrypted sensor packets to Abhivanta's central telemetry data lake under IEC 61850.</a:t>
            </a:r>
          </a:p>
        </p:txBody>
      </p:sp>
      <p:sp>
        <p:nvSpPr>
          <p:cNvPr id="9" name="Rounded Rectangle 8"/>
          <p:cNvSpPr/>
          <p:nvPr/>
        </p:nvSpPr>
        <p:spPr>
          <a:xfrm>
            <a:off x="6217920" y="1463040"/>
            <a:ext cx="2499055" cy="228600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FF"/>
                </a:solidFill>
              </a:defRPr>
            </a:pPr>
            <a:r>
              <a:t>Step 3: Neural Processing</a:t>
            </a:r>
          </a:p>
          <a:p>
            <a:pPr>
              <a:defRPr sz="1100">
                <a:solidFill>
                  <a:srgbClr val="CBD5E1"/>
                </a:solidFill>
              </a:defRPr>
            </a:pPr>
            <a:r>
              <a:t>The AI Engine triages incoming alarms, checks degradation thresholds, and calculates plant-specific PR and CUF in real-time.</a:t>
            </a:r>
          </a:p>
        </p:txBody>
      </p:sp>
      <p:sp>
        <p:nvSpPr>
          <p:cNvPr id="10" name="Rounded Rectangle 9"/>
          <p:cNvSpPr/>
          <p:nvPr/>
        </p:nvSpPr>
        <p:spPr>
          <a:xfrm>
            <a:off x="8961120" y="1463040"/>
            <a:ext cx="2499055" cy="228600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FF"/>
                </a:solidFill>
              </a:defRPr>
            </a:pPr>
            <a:r>
              <a:t>Step 4: Automated Action</a:t>
            </a:r>
          </a:p>
          <a:p>
            <a:pPr>
              <a:defRPr sz="1100">
                <a:solidFill>
                  <a:srgbClr val="CBD5E1"/>
                </a:solidFill>
              </a:defRPr>
            </a:pPr>
            <a:r>
              <a:t>Immediate sub-second dispatch to local O&amp;M field crews, robotic cleaner launch, or automated SLDC regulatory dispatch logging.</a:t>
            </a:r>
          </a:p>
        </p:txBody>
      </p:sp>
      <p:sp>
        <p:nvSpPr>
          <p:cNvPr id="11" name="Rounded Rectangle 10"/>
          <p:cNvSpPr/>
          <p:nvPr/>
        </p:nvSpPr>
        <p:spPr>
          <a:xfrm>
            <a:off x="731520" y="4023360"/>
            <a:ext cx="10728655" cy="201168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defRPr>
            </a:pPr>
            <a:r>
              <a:t>CENTRAL ENOC COMMAND FACILITY &amp;bull; PUNE, MAHARASHTRA</a:t>
            </a:r>
          </a:p>
          <a:p>
            <a:pPr>
              <a:defRPr sz="1200">
                <a:solidFill>
                  <a:srgbClr val="FFFFFF"/>
                </a:solidFill>
              </a:defRPr>
            </a:pPr>
            <a:r>
              <a:t>&amp;bull; Sub-Second Latency: 250ms average edge-to-screen response across nationwide facilities.</a:t>
            </a:r>
            <a:br/>
            <a:r>
              <a:t>&amp;bull; Automated PDF Reporting: Daily, weekly &amp; monthly audit packages delivered to IPP asset managers at 06:00 IST.</a:t>
            </a:r>
            <a:br/>
            <a:r>
              <a:t>&amp;bull; Tier-4 High Availability: Redundant server infrastructure with 99.99% uptime guarantee.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08 / POWER PROCUREMENT</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Power Trading &amp; C&amp;I Green Open Access Economics</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9 of 12</a:t>
            </a:r>
          </a:p>
        </p:txBody>
      </p:sp>
      <p:sp>
        <p:nvSpPr>
          <p:cNvPr id="7" name="Rounded Rectangle 6"/>
          <p:cNvSpPr/>
          <p:nvPr/>
        </p:nvSpPr>
        <p:spPr>
          <a:xfrm>
            <a:off x="731520" y="1463040"/>
            <a:ext cx="3447288" cy="4572000"/>
          </a:xfrm>
          <a:prstGeom prst="roundRect">
            <a:avLst/>
          </a:prstGeom>
          <a:solidFill>
            <a:srgbClr val="0D1F3A"/>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D2FF"/>
                </a:solidFill>
              </a:defRPr>
            </a:pPr>
            <a:r>
              <a:t>STRUCTURE 01</a:t>
            </a:r>
          </a:p>
          <a:p>
            <a:pPr>
              <a:defRPr sz="1500" b="1">
                <a:solidFill>
                  <a:srgbClr val="FFFFFF"/>
                </a:solidFill>
              </a:defRPr>
            </a:pPr>
            <a:r>
              <a:t>Group-Captive Model</a:t>
            </a:r>
          </a:p>
          <a:p>
            <a:pPr>
              <a:defRPr sz="1100" b="1">
                <a:solidFill>
                  <a:srgbClr val="10B981"/>
                </a:solidFill>
              </a:defRPr>
            </a:pPr>
            <a:r>
              <a:t>26% Equity &amp;bull; 51% Consumption</a:t>
            </a:r>
          </a:p>
          <a:p>
            <a:pPr>
              <a:defRPr sz="1100">
                <a:solidFill>
                  <a:srgbClr val="CBD5E1"/>
                </a:solidFill>
              </a:defRPr>
            </a:pPr>
            <a:r>
              <a:t>Full exemption from Cross-Subsidy Surcharge (CSS) and Additional Surcharge. Cuts industrial tariffs from ₹8.50 to ₹4.80–₹5.20/kWh (~38% net savings).</a:t>
            </a:r>
          </a:p>
        </p:txBody>
      </p:sp>
      <p:sp>
        <p:nvSpPr>
          <p:cNvPr id="8" name="Rounded Rectangle 7"/>
          <p:cNvSpPr/>
          <p:nvPr/>
        </p:nvSpPr>
        <p:spPr>
          <a:xfrm>
            <a:off x="4361688" y="1463040"/>
            <a:ext cx="3447288" cy="4572000"/>
          </a:xfrm>
          <a:prstGeom prst="roundRect">
            <a:avLst/>
          </a:prstGeom>
          <a:solidFill>
            <a:srgbClr val="0D1F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STRUCTURE 02</a:t>
            </a:r>
          </a:p>
          <a:p>
            <a:pPr>
              <a:defRPr sz="1500" b="1">
                <a:solidFill>
                  <a:srgbClr val="FFFFFF"/>
                </a:solidFill>
              </a:defRPr>
            </a:pPr>
            <a:r>
              <a:t>Third-Party Open Access</a:t>
            </a:r>
          </a:p>
          <a:p>
            <a:pPr>
              <a:defRPr sz="1100" b="1">
                <a:solidFill>
                  <a:srgbClr val="10B981"/>
                </a:solidFill>
              </a:defRPr>
            </a:pPr>
            <a:r>
              <a:t>Bilateral PPA Contracts</a:t>
            </a:r>
          </a:p>
          <a:p>
            <a:pPr>
              <a:defRPr sz="1100">
                <a:solidFill>
                  <a:srgbClr val="CBD5E1"/>
                </a:solidFill>
              </a:defRPr>
            </a:pPr>
            <a:r>
              <a:t>Short-to-medium term green power procurement with zero capital investment required from industrial off-takers. Fast 60-day onboarding.</a:t>
            </a:r>
          </a:p>
        </p:txBody>
      </p:sp>
      <p:sp>
        <p:nvSpPr>
          <p:cNvPr id="9" name="Rounded Rectangle 8"/>
          <p:cNvSpPr/>
          <p:nvPr/>
        </p:nvSpPr>
        <p:spPr>
          <a:xfrm>
            <a:off x="7991856" y="1463040"/>
            <a:ext cx="3447288" cy="4572000"/>
          </a:xfrm>
          <a:prstGeom prst="roundRect">
            <a:avLst/>
          </a:prstGeom>
          <a:solidFill>
            <a:srgbClr val="0D1F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STRUCTURE 03</a:t>
            </a:r>
          </a:p>
          <a:p>
            <a:pPr>
              <a:defRPr sz="1500" b="1">
                <a:solidFill>
                  <a:srgbClr val="FFFFFF"/>
                </a:solidFill>
              </a:defRPr>
            </a:pPr>
            <a:r>
              <a:t>Power Exchange Trading</a:t>
            </a:r>
          </a:p>
          <a:p>
            <a:pPr>
              <a:defRPr sz="1100" b="1">
                <a:solidFill>
                  <a:srgbClr val="10B981"/>
                </a:solidFill>
              </a:defRPr>
            </a:pPr>
            <a:r>
              <a:t>IEX / PXIL Exchange Operations</a:t>
            </a:r>
          </a:p>
          <a:p>
            <a:pPr>
              <a:defRPr sz="1100">
                <a:solidFill>
                  <a:srgbClr val="CBD5E1"/>
                </a:solidFill>
              </a:defRPr>
            </a:pPr>
            <a:r>
              <a:t>Dynamic market procurement across Day-Ahead (DAM), Real-Time (RTM), and Green Day-Ahead (GDAM) markets capturing lowest clearing price blocks.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09 / LEADERSHIP &amp; GOVERNANCE</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Leadership: Driving Technological Excellence</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10 of 12</a:t>
            </a:r>
          </a:p>
        </p:txBody>
      </p:sp>
      <p:sp>
        <p:nvSpPr>
          <p:cNvPr id="7" name="Rounded Rectangle 6"/>
          <p:cNvSpPr/>
          <p:nvPr/>
        </p:nvSpPr>
        <p:spPr>
          <a:xfrm>
            <a:off x="731520" y="1463040"/>
            <a:ext cx="10728655" cy="4572000"/>
          </a:xfrm>
          <a:prstGeom prst="roundRect">
            <a:avLst/>
          </a:prstGeom>
          <a:solidFill>
            <a:srgbClr val="0D1F3A"/>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ounder_abhishek_singh.jpg"/>
          <p:cNvPicPr>
            <a:picLocks noChangeAspect="1"/>
          </p:cNvPicPr>
          <p:nvPr/>
        </p:nvPicPr>
        <p:blipFill>
          <a:blip r:embed="rId3"/>
          <a:stretch>
            <a:fillRect/>
          </a:stretch>
        </p:blipFill>
        <p:spPr>
          <a:xfrm>
            <a:off x="1097280" y="1737360"/>
            <a:ext cx="2926080" cy="4023360"/>
          </a:xfrm>
          <a:prstGeom prst="rect">
            <a:avLst/>
          </a:prstGeom>
        </p:spPr>
      </p:pic>
      <p:sp>
        <p:nvSpPr>
          <p:cNvPr id="9" name="TextBox 8"/>
          <p:cNvSpPr txBox="1"/>
          <p:nvPr/>
        </p:nvSpPr>
        <p:spPr>
          <a:xfrm>
            <a:off x="4389120" y="1645920"/>
            <a:ext cx="6675120" cy="4114800"/>
          </a:xfrm>
          <a:prstGeom prst="rect">
            <a:avLst/>
          </a:prstGeom>
          <a:noFill/>
        </p:spPr>
        <p:txBody>
          <a:bodyPr wrap="square">
            <a:spAutoFit/>
          </a:bodyPr>
          <a:lstStyle/>
          <a:p>
            <a:pPr>
              <a:defRPr sz="2400" b="1">
                <a:solidFill>
                  <a:srgbClr val="FFFFFF"/>
                </a:solidFill>
              </a:defRPr>
            </a:pPr>
            <a:r>
              <a:t>Abhishek Singh</a:t>
            </a:r>
          </a:p>
          <a:p>
            <a:pPr>
              <a:defRPr sz="1300" b="1">
                <a:solidFill>
                  <a:srgbClr val="10B981"/>
                </a:solidFill>
              </a:defRPr>
            </a:pPr>
            <a:r>
              <a:t>Founder, Managing Director &amp; Chief System Architect</a:t>
            </a:r>
          </a:p>
          <a:p>
            <a:pPr>
              <a:defRPr sz="1200">
                <a:solidFill>
                  <a:srgbClr val="CBD5E1"/>
                </a:solidFill>
              </a:defRPr>
            </a:pPr>
            <a:r>
              <a:t>As the visionary behind ABHIVANTA, Abhishek Singh has spearheaded the engineering and operations of over 1,180 MW of utility solar PV, wind, and BESS capacity across India. Combining electrical power systems expertise with cutting-edge software telemetry, Abhishek has established Abhivanta as a trusted technology partner for tier-1 clean energy developers.</a:t>
            </a:r>
          </a:p>
          <a:p>
            <a:pPr>
              <a:defRPr sz="1200" i="1">
                <a:solidFill>
                  <a:srgbClr val="00D2FF"/>
                </a:solidFill>
              </a:defRPr>
            </a:pPr>
            <a:r>
              <a:t>"Data without automated action is just noise. At Abhivanta, our mission is turning sub-second inverter telemetry and AI forecasting into guaranteed clean plant availability."</a:t>
            </a:r>
          </a:p>
          <a:p>
            <a:pPr>
              <a:defRPr sz="1100" b="1">
                <a:solidFill>
                  <a:srgbClr val="94A3B8"/>
                </a:solidFill>
              </a:defRPr>
            </a:pPr>
            <a:r>
              <a:t>Core Specializations: Power Trading &amp; Open Access &amp;bull; High-Voltage Substation Engineering &amp;bull; Industrial SCADA Telemetry &amp;bull; Machine Learning Plant Diagnostics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10 / COMMERCIAL MODELS</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Commercial Engagement Frameworks</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11 of 12</a:t>
            </a:r>
          </a:p>
        </p:txBody>
      </p:sp>
      <p:sp>
        <p:nvSpPr>
          <p:cNvPr id="7" name="Rounded Rectangle 6"/>
          <p:cNvSpPr/>
          <p:nvPr/>
        </p:nvSpPr>
        <p:spPr>
          <a:xfrm>
            <a:off x="731520" y="1463040"/>
            <a:ext cx="3447288" cy="4572000"/>
          </a:xfrm>
          <a:prstGeom prst="roundRect">
            <a:avLst/>
          </a:prstGeom>
          <a:solidFill>
            <a:srgbClr val="0D1F3A"/>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D2FF"/>
                </a:solidFill>
              </a:defRPr>
            </a:pPr>
            <a:r>
              <a:t>MODEL 01</a:t>
            </a:r>
          </a:p>
          <a:p>
            <a:pPr>
              <a:defRPr sz="1400" b="1">
                <a:solidFill>
                  <a:srgbClr val="FFFFFF"/>
                </a:solidFill>
              </a:defRPr>
            </a:pPr>
            <a:r>
              <a:t>Turnkey EPC &amp; Development</a:t>
            </a:r>
          </a:p>
          <a:p>
            <a:pPr>
              <a:defRPr sz="1100">
                <a:solidFill>
                  <a:srgbClr val="CBD5E1"/>
                </a:solidFill>
              </a:defRPr>
            </a:pPr>
            <a:r>
              <a:t>Complete lump-sum turnkey EPC build from groundbreaking to 220kV grid synchronization.</a:t>
            </a:r>
            <a:br/>
            <a:br/>
            <a:r>
              <a:t>&amp;bull; Guaranteed Commercial Operation Date (COD)</a:t>
            </a:r>
            <a:br/>
            <a:r>
              <a:t>&amp;bull; Fixed-price turnkey delivery</a:t>
            </a:r>
            <a:br/>
            <a:r>
              <a:t>&amp;bull; Tier-1 equipment procurement guarantee</a:t>
            </a:r>
            <a:br/>
            <a:r>
              <a:t>&amp;bull; Performance Ratio guarantee during handover</a:t>
            </a:r>
          </a:p>
        </p:txBody>
      </p:sp>
      <p:sp>
        <p:nvSpPr>
          <p:cNvPr id="8" name="Rounded Rectangle 7"/>
          <p:cNvSpPr/>
          <p:nvPr/>
        </p:nvSpPr>
        <p:spPr>
          <a:xfrm>
            <a:off x="4361688" y="1463040"/>
            <a:ext cx="3447288" cy="4572000"/>
          </a:xfrm>
          <a:prstGeom prst="roundRect">
            <a:avLst/>
          </a:prstGeom>
          <a:solidFill>
            <a:srgbClr val="0D1F3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MODEL 02</a:t>
            </a:r>
          </a:p>
          <a:p>
            <a:pPr>
              <a:defRPr sz="1400" b="1">
                <a:solidFill>
                  <a:srgbClr val="FFFFFF"/>
                </a:solidFill>
              </a:defRPr>
            </a:pPr>
            <a:r>
              <a:t>Comprehensive Asset Mgmt &amp; O&amp;M</a:t>
            </a:r>
          </a:p>
          <a:p>
            <a:pPr>
              <a:defRPr sz="1100">
                <a:solidFill>
                  <a:srgbClr val="CBD5E1"/>
                </a:solidFill>
              </a:defRPr>
            </a:pPr>
            <a:r>
              <a:t>Full technical, financial, and operational asset management supervised by 24/7 ENOC.</a:t>
            </a:r>
            <a:br/>
            <a:br/>
            <a:r>
              <a:t>&amp;bull; Guaranteed 99.0%+ annual plant availability</a:t>
            </a:r>
            <a:br/>
            <a:r>
              <a:t>&amp;bull; Waterless autonomous robotic cleaning</a:t>
            </a:r>
            <a:br/>
            <a:r>
              <a:t>&amp;bull; CERC/SERC DSM scheduling &amp; compliance</a:t>
            </a:r>
            <a:br/>
            <a:r>
              <a:t>&amp;bull; Sub-1 hour emergency on-site triage response</a:t>
            </a:r>
          </a:p>
        </p:txBody>
      </p:sp>
      <p:sp>
        <p:nvSpPr>
          <p:cNvPr id="9" name="Rounded Rectangle 8"/>
          <p:cNvSpPr/>
          <p:nvPr/>
        </p:nvSpPr>
        <p:spPr>
          <a:xfrm>
            <a:off x="7991856" y="1463040"/>
            <a:ext cx="3447288" cy="4572000"/>
          </a:xfrm>
          <a:prstGeom prst="roundRect">
            <a:avLst/>
          </a:prstGeom>
          <a:solidFill>
            <a:srgbClr val="0D1F3A"/>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284C7"/>
                </a:solidFill>
              </a:defRPr>
            </a:pPr>
            <a:r>
              <a:t>MODEL 03</a:t>
            </a:r>
          </a:p>
          <a:p>
            <a:pPr>
              <a:defRPr sz="1400" b="1">
                <a:solidFill>
                  <a:srgbClr val="FFFFFF"/>
                </a:solidFill>
              </a:defRPr>
            </a:pPr>
            <a:r>
              <a:t>Power Trading &amp; Open Access PPA</a:t>
            </a:r>
          </a:p>
          <a:p>
            <a:pPr>
              <a:defRPr sz="1100">
                <a:solidFill>
                  <a:srgbClr val="CBD5E1"/>
                </a:solidFill>
              </a:defRPr>
            </a:pPr>
            <a:r>
              <a:t>Clean energy procurement and market advisory for C&amp;I consumers and IPPs.</a:t>
            </a:r>
            <a:br/>
            <a:br/>
            <a:r>
              <a:t>&amp;bull; Group-Captive structuring (zero CSS)</a:t>
            </a:r>
            <a:br/>
            <a:r>
              <a:t>&amp;bull; IEX exchange operations (DAM/RTM/GDAM)</a:t>
            </a:r>
            <a:br/>
            <a:r>
              <a:t>&amp;bull; Renewable Energy Certificates (RECs)</a:t>
            </a:r>
            <a:br/>
            <a:r>
              <a:t>&amp;bull; Automated tariff billing &amp; carbon accounting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000" b="1">
                <a:solidFill>
                  <a:srgbClr val="00D2FF"/>
                </a:solidFill>
              </a:defRPr>
            </a:pPr>
            <a:r>
              <a:t>11 / GET IN TOUCH</a:t>
            </a:r>
          </a:p>
        </p:txBody>
      </p:sp>
      <p:sp>
        <p:nvSpPr>
          <p:cNvPr id="4" name="TextBox 3"/>
          <p:cNvSpPr txBox="1"/>
          <p:nvPr/>
        </p:nvSpPr>
        <p:spPr>
          <a:xfrm>
            <a:off x="731520" y="640080"/>
            <a:ext cx="8686800" cy="731520"/>
          </a:xfrm>
          <a:prstGeom prst="rect">
            <a:avLst/>
          </a:prstGeom>
          <a:noFill/>
        </p:spPr>
        <p:txBody>
          <a:bodyPr wrap="square">
            <a:spAutoFit/>
          </a:bodyPr>
          <a:lstStyle/>
          <a:p>
            <a:pPr>
              <a:defRPr sz="2400" b="1">
                <a:solidFill>
                  <a:srgbClr val="FFFFFF"/>
                </a:solidFill>
              </a:defRPr>
            </a:pPr>
            <a:r>
              <a:t>Partner with ABHIVANTA Energy Intelligence</a:t>
            </a:r>
          </a:p>
        </p:txBody>
      </p:sp>
      <p:pic>
        <p:nvPicPr>
          <p:cNvPr id="5" name="Picture 4" descr="logo.png"/>
          <p:cNvPicPr>
            <a:picLocks noChangeAspect="1"/>
          </p:cNvPicPr>
          <p:nvPr/>
        </p:nvPicPr>
        <p:blipFill>
          <a:blip r:embed="rId2"/>
          <a:stretch>
            <a:fillRect/>
          </a:stretch>
        </p:blipFill>
        <p:spPr>
          <a:xfrm>
            <a:off x="9601200" y="365760"/>
            <a:ext cx="3019806" cy="640080"/>
          </a:xfrm>
          <a:prstGeom prst="rect">
            <a:avLst/>
          </a:prstGeom>
        </p:spPr>
      </p:pic>
      <p:sp>
        <p:nvSpPr>
          <p:cNvPr id="6" name="TextBox 5"/>
          <p:cNvSpPr txBox="1"/>
          <p:nvPr/>
        </p:nvSpPr>
        <p:spPr>
          <a:xfrm>
            <a:off x="731520" y="6400800"/>
            <a:ext cx="10728655" cy="274320"/>
          </a:xfrm>
          <a:prstGeom prst="rect">
            <a:avLst/>
          </a:prstGeom>
          <a:noFill/>
        </p:spPr>
        <p:txBody>
          <a:bodyPr wrap="none">
            <a:spAutoFit/>
          </a:bodyPr>
          <a:lstStyle/>
          <a:p>
            <a:pPr>
              <a:defRPr sz="900">
                <a:solidFill>
                  <a:srgbClr val="94A3B8"/>
                </a:solidFill>
              </a:defRPr>
            </a:pPr>
            <a:r>
              <a:t>ABHIVANTA Energy Intelligence &amp;bull; Confidential &amp;bull; Slide 12 of 12</a:t>
            </a:r>
          </a:p>
        </p:txBody>
      </p:sp>
      <p:sp>
        <p:nvSpPr>
          <p:cNvPr id="7" name="Rounded Rectangle 6"/>
          <p:cNvSpPr/>
          <p:nvPr/>
        </p:nvSpPr>
        <p:spPr>
          <a:xfrm>
            <a:off x="731520" y="1463040"/>
            <a:ext cx="10728655" cy="4572000"/>
          </a:xfrm>
          <a:prstGeom prst="roundRect">
            <a:avLst/>
          </a:prstGeom>
          <a:solidFill>
            <a:srgbClr val="0D1F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b="1">
                <a:solidFill>
                  <a:srgbClr val="FFFFFF"/>
                </a:solidFill>
              </a:defRPr>
            </a:pPr>
            <a:r>
              <a:t>Let's Accelerate India's Clean Energy Future Together</a:t>
            </a:r>
          </a:p>
          <a:p>
            <a:pPr>
              <a:defRPr sz="1300">
                <a:solidFill>
                  <a:srgbClr val="CBD5E1"/>
                </a:solidFill>
              </a:defRPr>
            </a:pPr>
            <a:r>
              <a:t>Whether you are seeking full-scope technical asset management, looking to procure cheaper green power via open access, deploying turnkey utility solar/wind infrastructure, or integrating grid-forming BESS storage, ABHIVANTA delivers the technology, engineering precision, and operational excellence your balance sheet demands.</a:t>
            </a:r>
          </a:p>
          <a:p>
            <a:br/>
            <a:pPr>
              <a:defRPr sz="1200">
                <a:solidFill>
                  <a:srgbClr val="00D2FF"/>
                </a:solidFill>
              </a:defRPr>
            </a:pPr>
            <a:r>
              <a:t>CORPORATE HEADQUARTERS</a:t>
            </a:r>
            <a:br/>
            <a:r>
              <a:t>Abhivanta Green Tower, High-Tech City</a:t>
            </a:r>
            <a:br/>
            <a:r>
              <a:t>Pune, Maharashtra 411057, India</a:t>
            </a:r>
            <a:br/>
            <a:br/>
            <a:r>
              <a:t>DIRECT ENQUIRIES &amp; TENDERS</a:t>
            </a:r>
            <a:br/>
            <a:r>
              <a:t>contact@abhivanta-energy.in</a:t>
            </a:r>
            <a:br/>
            <a:r>
              <a:t>epc.tenders@abhivanta-energy.in</a:t>
            </a:r>
            <a:br/>
            <a:r>
              <a:t>24/7 ENOC Desk: enoc@abhivanta-energy.in</a:t>
            </a:r>
            <a:br/>
            <a:br/>
            <a:r>
              <a:t>DIGITAL PLATFORM &amp; LIVE SCADA</a:t>
            </a:r>
            <a:br/>
            <a:r>
              <a:t>Website: www.abhivanta-energy.in</a:t>
            </a:r>
            <a:br/>
            <a:r>
              <a:t>Fleet Dashboard: www.abhivanta-energy.in/dashboard.html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